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8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015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 i="0">
                <a:solidFill>
                  <a:srgbClr val="15351F"/>
                </a:solidFill>
                <a:latin typeface="Segoe UI"/>
              </a:rPr>
              <a:t>AgroPlus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63240"/>
            <a:ext cx="94457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1">
                <a:solidFill>
                  <a:srgbClr val="3F5E49"/>
                </a:solidFill>
                <a:latin typeface="Segoe UI"/>
              </a:rPr>
              <a:t>Soil- and Weather-Aware Crop Recommendation &amp; Farm Profitability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7448" y="37033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 w="127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400" tIns="0" rIns="254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SE 801 · SOFTWARE PROJECT LAB–III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44575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15351F"/>
                </a:solidFill>
                <a:latin typeface="Segoe UI"/>
              </a:rPr>
              <a:t>Md. T</a:t>
            </a:r>
            <a:r>
              <a:rPr lang="en-GB" sz="1600" b="1" i="0" dirty="0">
                <a:solidFill>
                  <a:srgbClr val="15351F"/>
                </a:solidFill>
                <a:latin typeface="Segoe UI"/>
              </a:rPr>
              <a:t>o</a:t>
            </a:r>
            <a:r>
              <a:rPr sz="1600" b="1" i="0" dirty="0" err="1">
                <a:solidFill>
                  <a:srgbClr val="15351F"/>
                </a:solidFill>
                <a:latin typeface="Segoe UI"/>
              </a:rPr>
              <a:t>uhidur</a:t>
            </a:r>
            <a:r>
              <a:rPr sz="1600" b="1" i="0" dirty="0">
                <a:solidFill>
                  <a:srgbClr val="15351F"/>
                </a:solidFill>
                <a:latin typeface="Segoe UI"/>
              </a:rPr>
              <a:t> 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919472"/>
            <a:ext cx="944575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1600" b="0" i="0" dirty="0">
                <a:latin typeface="Segoe UI"/>
              </a:rPr>
              <a:t>Registration: 2021011373 </a:t>
            </a:r>
            <a:r>
              <a:rPr sz="1600" b="0" i="0" dirty="0">
                <a:latin typeface="Segoe UI"/>
              </a:rPr>
              <a:t>  •  Exam Roll 2322144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94960"/>
            <a:ext cx="9445752" cy="892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1" i="0" dirty="0">
                <a:latin typeface="Segoe UI"/>
              </a:rPr>
              <a:t>Supervised by </a:t>
            </a:r>
            <a:endParaRPr lang="en-GB" b="1" i="0" dirty="0">
              <a:latin typeface="Segoe UI"/>
            </a:endParaRPr>
          </a:p>
          <a:p>
            <a:pPr algn="ctr">
              <a:lnSpc>
                <a:spcPct val="100000"/>
              </a:lnSpc>
            </a:pPr>
            <a:br>
              <a:rPr lang="en-GB" sz="1200" b="0" i="0" dirty="0">
                <a:solidFill>
                  <a:srgbClr val="5A7563"/>
                </a:solidFill>
                <a:latin typeface="Segoe UI"/>
              </a:rPr>
            </a:br>
            <a:r>
              <a:rPr sz="1400" b="0" i="0" dirty="0">
                <a:latin typeface="Segoe UI"/>
              </a:rPr>
              <a:t>Dr. </a:t>
            </a:r>
            <a:r>
              <a:rPr sz="1400" b="0" i="0" dirty="0" err="1">
                <a:latin typeface="Segoe UI"/>
              </a:rPr>
              <a:t>Zerina</a:t>
            </a:r>
            <a:r>
              <a:rPr sz="1400" b="0" i="0" dirty="0">
                <a:latin typeface="Segoe UI"/>
              </a:rPr>
              <a:t> Begum, Professor </a:t>
            </a:r>
            <a:endParaRPr lang="en-GB" sz="1400" b="0" i="0" dirty="0">
              <a:latin typeface="Segoe UI"/>
            </a:endParaRPr>
          </a:p>
          <a:p>
            <a:pPr algn="ctr">
              <a:lnSpc>
                <a:spcPct val="100000"/>
              </a:lnSpc>
            </a:pPr>
            <a:r>
              <a:rPr sz="1400" b="0" i="0" dirty="0">
                <a:latin typeface="Segoe UI"/>
              </a:rPr>
              <a:t>Institute of Information Technology, University of Dhaka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9174626-E304-4855-8184-B129BB463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4077" y="141588"/>
            <a:ext cx="1718497" cy="15271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DBDE50B-05F5-4521-8FDD-8F41F0E19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3744" y="376512"/>
            <a:ext cx="1916288" cy="1078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6A4F"/>
                </a:solidFill>
                <a:latin typeface="Segoe U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5351F"/>
                </a:solidFill>
                <a:latin typeface="Segoe U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508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93392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351F"/>
                </a:solidFill>
                <a:latin typeface="Segoe UI"/>
              </a:rPr>
              <a:t>Problem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26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99232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351F"/>
                </a:solidFill>
                <a:latin typeface="Segoe UI"/>
              </a:rPr>
              <a:t>Our 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31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005072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351F"/>
                </a:solidFill>
                <a:latin typeface="Segoe UI"/>
              </a:rPr>
              <a:t>Feature Overview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937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5010912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351F"/>
                </a:solidFill>
                <a:latin typeface="Segoe UI"/>
              </a:rPr>
              <a:t>Tech Stack &amp; System 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993392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351F"/>
                </a:solidFill>
                <a:latin typeface="Segoe UI"/>
              </a:rPr>
              <a:t>Feature Deep-Dives — Recommendation, Profit, Rotation, AI Assistant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926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999232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351F"/>
                </a:solidFill>
                <a:latin typeface="Segoe UI"/>
              </a:rPr>
              <a:t>Live App Walkthrough (Screenshots)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931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005072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351F"/>
                </a:solidFill>
                <a:latin typeface="Segoe UI"/>
              </a:rPr>
              <a:t>Data Model, Testing &amp; Verification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937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5010912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5351F"/>
                </a:solidFill>
                <a:latin typeface="Segoe UI"/>
              </a:rPr>
              <a:t>Known Limitations &amp; Future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AgroPlus — SE 801 Final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6A4F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5351F"/>
                </a:solidFill>
                <a:latin typeface="Segoe UI"/>
              </a:rPr>
              <a:t>Why Bangladeshi Farmers Need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508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66160" cy="4206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965960"/>
            <a:ext cx="685800" cy="685800"/>
          </a:xfrm>
          <a:prstGeom prst="roundRect">
            <a:avLst>
              <a:gd name="adj" fmla="val 7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/>
              <a:t>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5351F"/>
                </a:solidFill>
                <a:latin typeface="Segoe UI"/>
              </a:rPr>
              <a:t>No Accessible Soil-to-Crop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30175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F5E49"/>
                </a:solidFill>
                <a:latin typeface="Segoe UI"/>
              </a:rPr>
              <a:t>A soil test gives N/P/K/pH numbers, but translating that into “which crop will actually do well here” needs agronomic expertise most farmers don't have on hand.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566160" cy="4206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09160" y="1965960"/>
            <a:ext cx="685800" cy="685800"/>
          </a:xfrm>
          <a:prstGeom prst="roundRect">
            <a:avLst>
              <a:gd name="adj" fmla="val 7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/>
              <a:t>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83464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5351F"/>
                </a:solidFill>
                <a:latin typeface="Segoe UI"/>
              </a:rPr>
              <a:t>No Transparent Economics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520440"/>
            <a:ext cx="30175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F5E49"/>
                </a:solidFill>
                <a:latin typeface="Segoe UI"/>
              </a:rPr>
              <a:t>Even an agronomically sound crop can be a financial mistake without an itemized, sourced cost estimate against the farmer's own land size and budget.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91640"/>
            <a:ext cx="3566160" cy="4206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03920" y="1965960"/>
            <a:ext cx="685800" cy="685800"/>
          </a:xfrm>
          <a:prstGeom prst="roundRect">
            <a:avLst>
              <a:gd name="adj" fmla="val 7000"/>
            </a:avLst>
          </a:prstGeom>
          <a:solidFill>
            <a:srgbClr val="FA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/>
              <a:t>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83464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5351F"/>
                </a:solidFill>
                <a:latin typeface="Segoe UI"/>
              </a:rPr>
              <a:t>No Rotation Discipline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520440"/>
            <a:ext cx="30175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F5E49"/>
                </a:solidFill>
                <a:latin typeface="Segoe UI"/>
              </a:rPr>
              <a:t>Back-to-back repetition of the same crop depletes soil nutrients and builds up pests — yet nothing remembers a land's cropping history when suggesting what's next.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AgroPlus — SE 801 Final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6A4F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5351F"/>
                </a:solidFill>
                <a:latin typeface="Segoe UI"/>
              </a:rPr>
              <a:t>What AgroPlus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508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5351F"/>
                </a:solidFill>
                <a:latin typeface="Segoe UI"/>
              </a:rPr>
              <a:t>A mobile app that turns a short soil sample into a grounded crop recommendation —</a:t>
            </a:r>
          </a:p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5351F"/>
                </a:solidFill>
                <a:latin typeface="Segoe UI"/>
              </a:rPr>
              <a:t>with real costs, real profit, and an AI assistant that never guesses.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10332720" cy="34747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00" b="1">
                <a:solidFill>
                  <a:srgbClr val="2D6A4F"/>
                </a:solidFill>
                <a:latin typeface="Segoe UI"/>
              </a:rPr>
              <a:t>✦  </a:t>
            </a:r>
            <a:r>
              <a:rPr sz="1500" b="1">
                <a:solidFill>
                  <a:srgbClr val="15351F"/>
                </a:solidFill>
                <a:latin typeface="Segoe UI"/>
              </a:rPr>
              <a:t>Soil → Recommendation.  </a:t>
            </a:r>
            <a:r>
              <a:rPr sz="1500">
                <a:solidFill>
                  <a:srgbClr val="3F5E49"/>
                </a:solidFill>
                <a:latin typeface="Segoe UI"/>
              </a:rPr>
              <a:t>ML-ranked top-3 crops (or a full season plan) from a tiered soil sample and live weather.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00" b="1">
                <a:solidFill>
                  <a:srgbClr val="2D6A4F"/>
                </a:solidFill>
                <a:latin typeface="Segoe UI"/>
              </a:rPr>
              <a:t>✦  </a:t>
            </a:r>
            <a:r>
              <a:rPr sz="1500" b="1">
                <a:solidFill>
                  <a:srgbClr val="15351F"/>
                </a:solidFill>
                <a:latin typeface="Segoe UI"/>
              </a:rPr>
              <a:t>Itemized economics.  </a:t>
            </a:r>
            <a:r>
              <a:rPr sz="1500">
                <a:solidFill>
                  <a:srgbClr val="3F5E49"/>
                </a:solidFill>
                <a:latin typeface="Segoe UI"/>
              </a:rPr>
              <a:t>Seed, per-nutrient fertilizer, and other costs — sourced from BAMIS, DAM, and BADC, not guessed.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00" b="1">
                <a:solidFill>
                  <a:srgbClr val="2D6A4F"/>
                </a:solidFill>
                <a:latin typeface="Segoe UI"/>
              </a:rPr>
              <a:t>✦  </a:t>
            </a:r>
            <a:r>
              <a:rPr sz="1500" b="1">
                <a:solidFill>
                  <a:srgbClr val="15351F"/>
                </a:solidFill>
                <a:latin typeface="Segoe UI"/>
              </a:rPr>
              <a:t>Rotation-safe by default.  </a:t>
            </a:r>
            <a:r>
              <a:rPr sz="1500">
                <a:solidFill>
                  <a:srgbClr val="3F5E49"/>
                </a:solidFill>
                <a:latin typeface="Segoe UI"/>
              </a:rPr>
              <a:t>A crop is never suggested a third time in a row on the same land.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00" b="1">
                <a:solidFill>
                  <a:srgbClr val="2D6A4F"/>
                </a:solidFill>
                <a:latin typeface="Segoe UI"/>
              </a:rPr>
              <a:t>✦  </a:t>
            </a:r>
            <a:r>
              <a:rPr sz="1500" b="1">
                <a:solidFill>
                  <a:srgbClr val="15351F"/>
                </a:solidFill>
                <a:latin typeface="Segoe UI"/>
              </a:rPr>
              <a:t>Grounded AI chat.  </a:t>
            </a:r>
            <a:r>
              <a:rPr sz="1500">
                <a:solidFill>
                  <a:srgbClr val="3F5E49"/>
                </a:solidFill>
                <a:latin typeface="Segoe UI"/>
              </a:rPr>
              <a:t>Every number the assistant states comes from a real tool call against the land's own data.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00" b="1">
                <a:solidFill>
                  <a:srgbClr val="2D6A4F"/>
                </a:solidFill>
                <a:latin typeface="Segoe UI"/>
              </a:rPr>
              <a:t>✦  </a:t>
            </a:r>
            <a:r>
              <a:rPr sz="1500" b="1">
                <a:solidFill>
                  <a:srgbClr val="15351F"/>
                </a:solidFill>
                <a:latin typeface="Segoe UI"/>
              </a:rPr>
              <a:t>Bilingual.  </a:t>
            </a:r>
            <a:r>
              <a:rPr sz="1500">
                <a:solidFill>
                  <a:srgbClr val="3F5E49"/>
                </a:solidFill>
                <a:latin typeface="Segoe UI"/>
              </a:rPr>
              <a:t>Full English and Bangla localization, with the assistant replying in the farmer's language.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AgroPlus — SE 801 Final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groPlus_Overview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AgroPlus — SE 801 Final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6A4F"/>
                </a:solidFill>
                <a:latin typeface="Segoe U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5351F"/>
                </a:solidFill>
                <a:latin typeface="Segoe U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508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25780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2029968"/>
            <a:ext cx="685800" cy="685800"/>
          </a:xfrm>
          <a:prstGeom prst="roundRect">
            <a:avLst>
              <a:gd name="adj" fmla="val 7000"/>
            </a:avLst>
          </a:prstGeom>
          <a:solidFill>
            <a:srgbClr val="EE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/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74520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D6A4F"/>
                </a:solidFill>
                <a:latin typeface="Segoe U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240280"/>
            <a:ext cx="3977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5E49"/>
                </a:solidFill>
                <a:latin typeface="Segoe UI"/>
              </a:rPr>
              <a:t>Flutter (Dart) — Android &amp; iOS from one codebase, English + Bangla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91640"/>
            <a:ext cx="525780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0" y="2029968"/>
            <a:ext cx="685800" cy="685800"/>
          </a:xfrm>
          <a:prstGeom prst="roundRect">
            <a:avLst>
              <a:gd name="adj" fmla="val 7000"/>
            </a:avLst>
          </a:prstGeom>
          <a:solidFill>
            <a:srgbClr val="EE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/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874520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B7791F"/>
                </a:solidFill>
                <a:latin typeface="Segoe U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240280"/>
            <a:ext cx="3977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5E49"/>
                </a:solidFill>
                <a:latin typeface="Segoe UI"/>
              </a:rPr>
              <a:t>FastAPI (Python) — REST API, JWT auth, Alembic migrations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64408"/>
            <a:ext cx="525780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68680" y="3602736"/>
            <a:ext cx="685800" cy="685800"/>
          </a:xfrm>
          <a:prstGeom prst="roundRect">
            <a:avLst>
              <a:gd name="adj" fmla="val 7000"/>
            </a:avLst>
          </a:prstGeom>
          <a:solidFill>
            <a:srgbClr val="EE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/>
              <a:t>🗄️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447288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B6B"/>
                </a:solidFill>
                <a:latin typeface="Segoe UI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813048"/>
            <a:ext cx="3977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5E49"/>
                </a:solidFill>
                <a:latin typeface="Segoe UI"/>
              </a:rPr>
              <a:t>PostgreSQL via SQLAlchemy 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264408"/>
            <a:ext cx="525780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0" y="3602736"/>
            <a:ext cx="685800" cy="685800"/>
          </a:xfrm>
          <a:prstGeom prst="roundRect">
            <a:avLst>
              <a:gd name="adj" fmla="val 7000"/>
            </a:avLst>
          </a:prstGeom>
          <a:solidFill>
            <a:srgbClr val="EE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/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447288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C4A6E"/>
                </a:solidFill>
                <a:latin typeface="Segoe UI"/>
              </a:rPr>
              <a:t>ML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813048"/>
            <a:ext cx="3977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5E49"/>
                </a:solidFill>
                <a:latin typeface="Segoe UI"/>
              </a:rPr>
              <a:t>XGBoost + Random Forest ensemble, trained on the Kaggle Crop Recommendation dataset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37176"/>
            <a:ext cx="525780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68680" y="5175504"/>
            <a:ext cx="685800" cy="685800"/>
          </a:xfrm>
          <a:prstGeom prst="roundRect">
            <a:avLst>
              <a:gd name="adj" fmla="val 7000"/>
            </a:avLst>
          </a:prstGeom>
          <a:solidFill>
            <a:srgbClr val="EE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/>
              <a:t>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020056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7A1F49"/>
                </a:solidFill>
                <a:latin typeface="Segoe UI"/>
              </a:rPr>
              <a:t>AI Assistant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385816"/>
            <a:ext cx="3977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5E49"/>
                </a:solidFill>
                <a:latin typeface="Segoe UI"/>
              </a:rPr>
              <a:t>OpenAI function-calling (gpt-4o-mini) with 6 grounding tools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837176"/>
            <a:ext cx="5257800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00800" y="5175504"/>
            <a:ext cx="685800" cy="685800"/>
          </a:xfrm>
          <a:prstGeom prst="roundRect">
            <a:avLst>
              <a:gd name="adj" fmla="val 7000"/>
            </a:avLst>
          </a:prstGeom>
          <a:solidFill>
            <a:srgbClr val="EE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/>
              <a:t>☁️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5020056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D6A4F"/>
                </a:solidFill>
                <a:latin typeface="Segoe UI"/>
              </a:rPr>
              <a:t>Weather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5385816"/>
            <a:ext cx="3977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F5E49"/>
                </a:solidFill>
                <a:latin typeface="Segoe UI"/>
              </a:rPr>
              <a:t>Open-Meteo — live conditions + 7-day forecast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AgroPlus — SE 801 Final 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6A4F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5351F"/>
                </a:solidFill>
                <a:latin typeface="Segoe UI"/>
              </a:rPr>
              <a:t>System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508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70248" y="1600200"/>
            <a:ext cx="3657600" cy="685800"/>
          </a:xfrm>
          <a:prstGeom prst="roundRect">
            <a:avLst>
              <a:gd name="adj" fmla="val 7000"/>
            </a:avLst>
          </a:prstGeom>
          <a:solidFill>
            <a:srgbClr val="EEF5EA"/>
          </a:solidFill>
          <a:ln w="127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5351F"/>
                </a:solidFill>
                <a:latin typeface="Segoe UI"/>
              </a:rPr>
              <a:t>Flutter Mobile Client</a:t>
            </a:r>
          </a:p>
          <a:p>
            <a:pPr algn="ctr"/>
            <a:r>
              <a:rPr sz="950">
                <a:solidFill>
                  <a:srgbClr val="5A7563"/>
                </a:solidFill>
                <a:latin typeface="Segoe UI"/>
              </a:rPr>
              <a:t>Android / 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042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REST / JWT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41448" y="2606040"/>
            <a:ext cx="7315200" cy="685800"/>
          </a:xfrm>
          <a:prstGeom prst="roundRect">
            <a:avLst>
              <a:gd name="adj" fmla="val 7000"/>
            </a:avLst>
          </a:prstGeom>
          <a:solidFill>
            <a:srgbClr val="EEF5EA"/>
          </a:solidFill>
          <a:ln w="127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5351F"/>
                </a:solidFill>
                <a:latin typeface="Segoe UI"/>
              </a:rPr>
              <a:t>FastAPI API Layer</a:t>
            </a:r>
          </a:p>
          <a:p>
            <a:pPr algn="ctr"/>
            <a:r>
              <a:rPr sz="950">
                <a:solidFill>
                  <a:srgbClr val="5A7563"/>
                </a:solidFill>
                <a:latin typeface="Segoe UI"/>
              </a:rPr>
              <a:t>auth · farms · recommendations · chat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57600"/>
            <a:ext cx="2697480" cy="914400"/>
          </a:xfrm>
          <a:prstGeom prst="roundRect">
            <a:avLst>
              <a:gd name="adj" fmla="val 7000"/>
            </a:avLst>
          </a:prstGeom>
          <a:solidFill>
            <a:srgbClr val="FDF3E3"/>
          </a:solidFill>
          <a:ln w="1270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5351F"/>
                </a:solidFill>
                <a:latin typeface="Segoe UI"/>
              </a:rPr>
              <a:t>ML Recommendation
Engine</a:t>
            </a:r>
          </a:p>
          <a:p>
            <a:pPr algn="ctr"/>
            <a:r>
              <a:rPr sz="950">
                <a:solidFill>
                  <a:srgbClr val="5A7563"/>
                </a:solidFill>
                <a:latin typeface="Segoe UI"/>
              </a:rPr>
              <a:t>XGBoost + Random Forest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3657600"/>
            <a:ext cx="2697480" cy="914400"/>
          </a:xfrm>
          <a:prstGeom prst="roundRect">
            <a:avLst>
              <a:gd name="adj" fmla="val 7000"/>
            </a:avLst>
          </a:prstGeom>
          <a:solidFill>
            <a:srgbClr val="FAF0F5"/>
          </a:solidFill>
          <a:ln w="12700">
            <a:solidFill>
              <a:srgbClr val="7A1F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5351F"/>
                </a:solidFill>
                <a:latin typeface="Segoe UI"/>
              </a:rPr>
              <a:t>Crop Economics
Knowledge Base</a:t>
            </a:r>
          </a:p>
          <a:p>
            <a:pPr algn="ctr"/>
            <a:r>
              <a:rPr sz="950">
                <a:solidFill>
                  <a:srgbClr val="5A7563"/>
                </a:solidFill>
                <a:latin typeface="Segoe UI"/>
              </a:rPr>
              <a:t>BAMIS · DAM · BADC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9904" y="3657600"/>
            <a:ext cx="2697480" cy="914400"/>
          </a:xfrm>
          <a:prstGeom prst="roundRect">
            <a:avLst>
              <a:gd name="adj" fmla="val 7000"/>
            </a:avLst>
          </a:prstGeom>
          <a:solidFill>
            <a:srgbClr val="EEF2FB"/>
          </a:solidFill>
          <a:ln w="12700">
            <a:solidFill>
              <a:srgbClr val="1B2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5351F"/>
                </a:solidFill>
                <a:latin typeface="Segoe UI"/>
              </a:rPr>
              <a:t>Weather Service</a:t>
            </a:r>
          </a:p>
          <a:p>
            <a:pPr algn="ctr"/>
            <a:r>
              <a:rPr sz="950">
                <a:solidFill>
                  <a:srgbClr val="5A7563"/>
                </a:solidFill>
                <a:latin typeface="Segoe UI"/>
              </a:rPr>
              <a:t>Open-Meteo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14816" y="3657600"/>
            <a:ext cx="2697480" cy="914400"/>
          </a:xfrm>
          <a:prstGeom prst="roundRect">
            <a:avLst>
              <a:gd name="adj" fmla="val 7000"/>
            </a:avLst>
          </a:prstGeom>
          <a:solidFill>
            <a:srgbClr val="EEF7FB"/>
          </a:solidFill>
          <a:ln w="12700">
            <a:solidFill>
              <a:srgbClr val="0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5351F"/>
                </a:solidFill>
                <a:latin typeface="Segoe UI"/>
              </a:rPr>
              <a:t>AI Farm Assistant</a:t>
            </a:r>
          </a:p>
          <a:p>
            <a:pPr algn="ctr"/>
            <a:r>
              <a:rPr sz="950">
                <a:solidFill>
                  <a:srgbClr val="5A7563"/>
                </a:solidFill>
                <a:latin typeface="Segoe UI"/>
              </a:rPr>
              <a:t>OpenAI function calling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41448" y="5029200"/>
            <a:ext cx="7315200" cy="685800"/>
          </a:xfrm>
          <a:prstGeom prst="roundRect">
            <a:avLst>
              <a:gd name="adj" fmla="val 7000"/>
            </a:avLst>
          </a:prstGeom>
          <a:solidFill>
            <a:srgbClr val="EEF5EA"/>
          </a:solidFill>
          <a:ln w="127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5351F"/>
                </a:solidFill>
                <a:latin typeface="Segoe UI"/>
              </a:rPr>
              <a:t>Persistence</a:t>
            </a:r>
          </a:p>
          <a:p>
            <a:pPr algn="ctr"/>
            <a:r>
              <a:rPr sz="950">
                <a:solidFill>
                  <a:srgbClr val="5A7563"/>
                </a:solidFill>
                <a:latin typeface="Segoe UI"/>
              </a:rPr>
              <a:t>SQLAlchemy / 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5A7563"/>
                </a:solidFill>
                <a:latin typeface="Segoe UI"/>
              </a:rPr>
              <a:t>Each service is independently replaceable — swapping the ML model or the chat provider never touches the others.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AgroPlus — SE 801 Final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6A4F"/>
                </a:solidFill>
                <a:latin typeface="Segoe UI"/>
              </a:rPr>
              <a:t>CORE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5351F"/>
                </a:solidFill>
                <a:latin typeface="Segoe UI"/>
              </a:rPr>
              <a:t>From Soil Sample to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508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55547" y="2240280"/>
            <a:ext cx="25400" cy="246888"/>
          </a:xfrm>
          <a:prstGeom prst="rect">
            <a:avLst/>
          </a:prstGeom>
          <a:solidFill>
            <a:srgbClr val="DB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171907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5351F"/>
                </a:solidFill>
                <a:latin typeface="Segoe UI"/>
              </a:rPr>
              <a:t>Create a 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719072"/>
            <a:ext cx="66751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5E49"/>
                </a:solidFill>
                <a:latin typeface="Segoe UI"/>
              </a:rPr>
              <a:t>District, area, soil type, water availability, budget, target season, cropping pattern.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8716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5547" y="2990088"/>
            <a:ext cx="25400" cy="246888"/>
          </a:xfrm>
          <a:prstGeom prst="rect">
            <a:avLst/>
          </a:prstGeom>
          <a:solidFill>
            <a:srgbClr val="DB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24688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5351F"/>
                </a:solidFill>
                <a:latin typeface="Segoe UI"/>
              </a:rPr>
              <a:t>Sample the soil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468880"/>
            <a:ext cx="66751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5E49"/>
                </a:solidFill>
                <a:latin typeface="Segoe UI"/>
              </a:rPr>
              <a:t>1 / 3 / 5 points depending on area — N, P, K, pH at each.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36976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5547" y="3739896"/>
            <a:ext cx="25400" cy="246888"/>
          </a:xfrm>
          <a:prstGeom prst="rect">
            <a:avLst/>
          </a:prstGeom>
          <a:solidFill>
            <a:srgbClr val="DB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63040" y="321868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5351F"/>
                </a:solidFill>
                <a:latin typeface="Segoe UI"/>
              </a:rPr>
              <a:t>Composite reading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218688"/>
            <a:ext cx="66751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5E49"/>
                </a:solidFill>
                <a:latin typeface="Segoe UI"/>
              </a:rPr>
              <a:t>Once every required point is saved, AgroPlus averages them automatically.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8678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5547" y="4489704"/>
            <a:ext cx="25400" cy="246888"/>
          </a:xfrm>
          <a:prstGeom prst="rect">
            <a:avLst/>
          </a:prstGeom>
          <a:solidFill>
            <a:srgbClr val="DB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63040" y="3968496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5351F"/>
                </a:solidFill>
                <a:latin typeface="Segoe UI"/>
              </a:rPr>
              <a:t>ML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968496"/>
            <a:ext cx="66751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5E49"/>
                </a:solidFill>
                <a:latin typeface="Segoe UI"/>
              </a:rPr>
              <a:t>XGBoost + Random Forest score every supported crop against soil + live weather.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3659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7" y="5239512"/>
            <a:ext cx="25400" cy="246888"/>
          </a:xfrm>
          <a:prstGeom prst="rect">
            <a:avLst/>
          </a:prstGeom>
          <a:solidFill>
            <a:srgbClr val="DBE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63040" y="4718304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5351F"/>
                </a:solidFill>
                <a:latin typeface="Segoe UI"/>
              </a:rPr>
              <a:t>Rotation filter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718304"/>
            <a:ext cx="66751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5E49"/>
                </a:solidFill>
                <a:latin typeface="Segoe UI"/>
              </a:rPr>
              <a:t>Any crop grown twice in a row on this land is excluded before ranking.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4864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46811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5351F"/>
                </a:solidFill>
                <a:latin typeface="Segoe UI"/>
              </a:rPr>
              <a:t>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468112"/>
            <a:ext cx="66751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F5E49"/>
                </a:solidFill>
                <a:latin typeface="Segoe UI"/>
              </a:rPr>
              <a:t>Single mode: top-3 ranked. Double/Triple mode: a season-sequenced plan.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AgroPlus — SE 801 Final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6A4F"/>
                </a:solidFill>
                <a:latin typeface="Segoe UI"/>
              </a:rPr>
              <a:t>FEATURE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5351F"/>
                </a:solidFill>
                <a:latin typeface="Segoe UI"/>
              </a:rPr>
              <a:t>Itemized Harvest Economics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508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486400" cy="43891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2D6A4F"/>
                </a:solidFill>
                <a:latin typeface="Segoe UI"/>
              </a:rPr>
              <a:t>✦  </a:t>
            </a:r>
            <a:r>
              <a:rPr sz="1300" b="1">
                <a:solidFill>
                  <a:srgbClr val="15351F"/>
                </a:solidFill>
                <a:latin typeface="Segoe UI"/>
              </a:rPr>
              <a:t>Seed cost  </a:t>
            </a:r>
            <a:r>
              <a:rPr sz="1300">
                <a:solidFill>
                  <a:srgbClr val="3F5E49"/>
                </a:solidFill>
                <a:latin typeface="Segoe UI"/>
              </a:rPr>
              <a:t>BADC/DAM seed price × BAMIS recommended seeding rate.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2D6A4F"/>
                </a:solidFill>
                <a:latin typeface="Segoe UI"/>
              </a:rPr>
              <a:t>✦  </a:t>
            </a:r>
            <a:r>
              <a:rPr sz="1300" b="1">
                <a:solidFill>
                  <a:srgbClr val="15351F"/>
                </a:solidFill>
                <a:latin typeface="Segoe UI"/>
              </a:rPr>
              <a:t>Fertilizer cost  </a:t>
            </a:r>
            <a:r>
              <a:rPr sz="1300">
                <a:solidFill>
                  <a:srgbClr val="3F5E49"/>
                </a:solidFill>
                <a:latin typeface="Segoe UI"/>
              </a:rPr>
              <a:t>BAMIS's per-crop recipe (Urea, TSP, MoP, Gypsum…) priced against real DAM market rates, itemized per nutrient.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2D6A4F"/>
                </a:solidFill>
                <a:latin typeface="Segoe UI"/>
              </a:rPr>
              <a:t>✦  </a:t>
            </a:r>
            <a:r>
              <a:rPr sz="1300" b="1">
                <a:solidFill>
                  <a:srgbClr val="15351F"/>
                </a:solidFill>
                <a:latin typeface="Segoe UI"/>
              </a:rPr>
              <a:t>Other costs  </a:t>
            </a:r>
            <a:r>
              <a:rPr sz="1300">
                <a:solidFill>
                  <a:srgbClr val="3F5E49"/>
                </a:solidFill>
                <a:latin typeface="Segoe UI"/>
              </a:rPr>
              <a:t>Labor, irrigation, land prep — the remainder of BAMIS's bundled total after seed + fertilizer.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2D6A4F"/>
                </a:solidFill>
                <a:latin typeface="Segoe UI"/>
              </a:rPr>
              <a:t>✦  </a:t>
            </a:r>
            <a:r>
              <a:rPr sz="1300" b="1">
                <a:solidFill>
                  <a:srgbClr val="15351F"/>
                </a:solidFill>
                <a:latin typeface="Segoe UI"/>
              </a:rPr>
              <a:t>Always reconciles  </a:t>
            </a:r>
            <a:r>
              <a:rPr sz="1300">
                <a:solidFill>
                  <a:srgbClr val="3F5E49"/>
                </a:solidFill>
                <a:latin typeface="Segoe UI"/>
              </a:rPr>
              <a:t>seed + fertilizer + other = total cost, exactly, for every crop.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2D6A4F"/>
                </a:solidFill>
                <a:latin typeface="Segoe UI"/>
              </a:rPr>
              <a:t>✦  </a:t>
            </a:r>
            <a:r>
              <a:rPr sz="1300" b="1">
                <a:solidFill>
                  <a:srgbClr val="15351F"/>
                </a:solidFill>
                <a:latin typeface="Segoe UI"/>
              </a:rPr>
              <a:t>Profit estimate  </a:t>
            </a:r>
            <a:r>
              <a:rPr sz="1300">
                <a:solidFill>
                  <a:srgbClr val="3F5E49"/>
                </a:solidFill>
                <a:latin typeface="Segoe UI"/>
              </a:rPr>
              <a:t>Gross revenue − total cost = net profit, plus a warning if cost exceeds the farmer's budget.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78520" y="1391920"/>
            <a:ext cx="2334514" cy="51257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D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8_crop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417320"/>
            <a:ext cx="2283714" cy="5074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AgroPlus — SE 801 Final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6A4F"/>
                </a:solidFill>
                <a:latin typeface="Segoe UI"/>
              </a:rPr>
              <a:t>FEATURE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5351F"/>
                </a:solidFill>
                <a:latin typeface="Segoe UI"/>
              </a:rPr>
              <a:t>Multi-Cropping &amp; the Rotation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508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486400" cy="43891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2D6A4F"/>
                </a:solidFill>
                <a:latin typeface="Segoe UI"/>
              </a:rPr>
              <a:t>✦  </a:t>
            </a:r>
            <a:r>
              <a:rPr sz="1300" b="1">
                <a:solidFill>
                  <a:srgbClr val="15351F"/>
                </a:solidFill>
                <a:latin typeface="Segoe UI"/>
              </a:rPr>
              <a:t>Single / Double / Triple  </a:t>
            </a:r>
            <a:r>
              <a:rPr sz="1300">
                <a:solidFill>
                  <a:srgbClr val="3F5E49"/>
                </a:solidFill>
                <a:latin typeface="Segoe UI"/>
              </a:rPr>
              <a:t>Chosen per land — one crop at a time, or a season-sequenced plan across Rabi / Aus / Aman.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2D6A4F"/>
                </a:solidFill>
                <a:latin typeface="Segoe UI"/>
              </a:rPr>
              <a:t>✦  </a:t>
            </a:r>
            <a:r>
              <a:rPr sz="1300" b="1">
                <a:solidFill>
                  <a:srgbClr val="15351F"/>
                </a:solidFill>
                <a:latin typeface="Segoe UI"/>
              </a:rPr>
              <a:t>Season classification  </a:t>
            </a:r>
            <a:r>
              <a:rPr sz="1300">
                <a:solidFill>
                  <a:srgbClr val="3F5E49"/>
                </a:solidFill>
                <a:latin typeface="Segoe UI"/>
              </a:rPr>
              <a:t>BAMIS's cultivation-season text is classified into Rabi/Aus/Aman once, at data-seeding time.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2D6A4F"/>
                </a:solidFill>
                <a:latin typeface="Segoe UI"/>
              </a:rPr>
              <a:t>✦  </a:t>
            </a:r>
            <a:r>
              <a:rPr sz="1300" b="1">
                <a:solidFill>
                  <a:srgbClr val="15351F"/>
                </a:solidFill>
                <a:latin typeface="Segoe UI"/>
              </a:rPr>
              <a:t>The rotation rule  </a:t>
            </a:r>
            <a:r>
              <a:rPr sz="1300">
                <a:solidFill>
                  <a:srgbClr val="3F5E49"/>
                </a:solidFill>
                <a:latin typeface="Segoe UI"/>
              </a:rPr>
              <a:t>A crop can't be picked if it would be grown a 3rd time in a row — counting the land's recorded history plus the plan being built.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2D6A4F"/>
                </a:solidFill>
                <a:latin typeface="Segoe UI"/>
              </a:rPr>
              <a:t>✦  </a:t>
            </a:r>
            <a:r>
              <a:rPr sz="1300" b="1">
                <a:solidFill>
                  <a:srgbClr val="15351F"/>
                </a:solidFill>
                <a:latin typeface="Segoe UI"/>
              </a:rPr>
              <a:t>Automatic substitution  </a:t>
            </a:r>
            <a:r>
              <a:rPr sz="1300">
                <a:solidFill>
                  <a:srgbClr val="3F5E49"/>
                </a:solidFill>
                <a:latin typeface="Segoe UI"/>
              </a:rPr>
              <a:t>If a season's top pick is blocked, the next-best rotation-safe crop steps in, with a human-readable note explaining why.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2D6A4F"/>
                </a:solidFill>
                <a:latin typeface="Segoe UI"/>
              </a:rPr>
              <a:t>✦  </a:t>
            </a:r>
            <a:r>
              <a:rPr sz="1300" b="1">
                <a:solidFill>
                  <a:srgbClr val="15351F"/>
                </a:solidFill>
                <a:latin typeface="Segoe UI"/>
              </a:rPr>
              <a:t>Mango is excluded  </a:t>
            </a:r>
            <a:r>
              <a:rPr sz="1300">
                <a:solidFill>
                  <a:srgbClr val="3F5E49"/>
                </a:solidFill>
                <a:latin typeface="Segoe UI"/>
              </a:rPr>
              <a:t>A perennial tree crop doesn't fit a within-year seasonal rotation — it stays single-cropping only.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07120" y="1391920"/>
            <a:ext cx="2334514" cy="51257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D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7_cropping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417320"/>
            <a:ext cx="2283714" cy="5074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AgroPlus — SE 801 Final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6A4F"/>
                </a:solidFill>
                <a:latin typeface="Segoe UI"/>
              </a:rPr>
              <a:t>FEATURE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5351F"/>
                </a:solidFill>
                <a:latin typeface="Segoe UI"/>
              </a:rPr>
              <a:t>AI Farm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508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486400" cy="43891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2D6A4F"/>
                </a:solidFill>
                <a:latin typeface="Segoe UI"/>
              </a:rPr>
              <a:t>✦  </a:t>
            </a:r>
            <a:r>
              <a:rPr sz="1300" b="1">
                <a:solidFill>
                  <a:srgbClr val="15351F"/>
                </a:solidFill>
                <a:latin typeface="Segoe UI"/>
              </a:rPr>
              <a:t>Grounded, not generative  </a:t>
            </a:r>
            <a:r>
              <a:rPr sz="1300">
                <a:solidFill>
                  <a:srgbClr val="3F5E49"/>
                </a:solidFill>
                <a:latin typeface="Segoe UI"/>
              </a:rPr>
              <a:t>Every number the assistant states comes from a real tool call against the land's own data — never the model's general knowledge.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2D6A4F"/>
                </a:solidFill>
                <a:latin typeface="Segoe UI"/>
              </a:rPr>
              <a:t>✦  </a:t>
            </a:r>
            <a:r>
              <a:rPr sz="1300" b="1">
                <a:solidFill>
                  <a:srgbClr val="15351F"/>
                </a:solidFill>
                <a:latin typeface="Segoe UI"/>
              </a:rPr>
              <a:t>Six grounding tools  </a:t>
            </a:r>
            <a:r>
              <a:rPr sz="1300">
                <a:solidFill>
                  <a:srgbClr val="3F5E49"/>
                </a:solidFill>
                <a:latin typeface="Segoe UI"/>
              </a:rPr>
              <a:t>Soil reading, live weather, 7-day forecast, current recommendation, crop detail, other crop options, and “why this crop?” explanation.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2D6A4F"/>
                </a:solidFill>
                <a:latin typeface="Segoe UI"/>
              </a:rPr>
              <a:t>✦  </a:t>
            </a:r>
            <a:r>
              <a:rPr sz="1300" b="1">
                <a:solidFill>
                  <a:srgbClr val="15351F"/>
                </a:solidFill>
                <a:latin typeface="Segoe UI"/>
              </a:rPr>
              <a:t>Honest about gaps  </a:t>
            </a:r>
            <a:r>
              <a:rPr sz="1300">
                <a:solidFill>
                  <a:srgbClr val="3F5E49"/>
                </a:solidFill>
                <a:latin typeface="Segoe UI"/>
              </a:rPr>
              <a:t>If a soil reading doesn't exist yet, the assistant says so — it never fabricates a plausible-looking answer.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2D6A4F"/>
                </a:solidFill>
                <a:latin typeface="Segoe UI"/>
              </a:rPr>
              <a:t>✦  </a:t>
            </a:r>
            <a:r>
              <a:rPr sz="1300" b="1">
                <a:solidFill>
                  <a:srgbClr val="15351F"/>
                </a:solidFill>
                <a:latin typeface="Segoe UI"/>
              </a:rPr>
              <a:t>Persistent per land  </a:t>
            </a:r>
            <a:r>
              <a:rPr sz="1300">
                <a:solidFill>
                  <a:srgbClr val="3F5E49"/>
                </a:solidFill>
                <a:latin typeface="Segoe UI"/>
              </a:rPr>
              <a:t>One ongoing conversation per land, restored automatically; a “new conversation” action clears it.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300" b="1">
                <a:solidFill>
                  <a:srgbClr val="2D6A4F"/>
                </a:solidFill>
                <a:latin typeface="Segoe UI"/>
              </a:rPr>
              <a:t>✦  </a:t>
            </a:r>
            <a:r>
              <a:rPr sz="1300" b="1">
                <a:solidFill>
                  <a:srgbClr val="15351F"/>
                </a:solidFill>
                <a:latin typeface="Segoe UI"/>
              </a:rPr>
              <a:t>Replies in-language  </a:t>
            </a:r>
            <a:r>
              <a:rPr sz="1300">
                <a:solidFill>
                  <a:srgbClr val="3F5E49"/>
                </a:solidFill>
                <a:latin typeface="Segoe UI"/>
              </a:rPr>
              <a:t>English question in, Bangla answer out — matching however the farmer writes.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07120" y="1254760"/>
            <a:ext cx="2416810" cy="53086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D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9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280160"/>
            <a:ext cx="2366010" cy="5257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AgroPlus — SE 801 Final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6A4F"/>
                </a:solidFill>
                <a:latin typeface="Segoe UI"/>
              </a:rPr>
              <a:t>FEATURE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5351F"/>
                </a:solidFill>
                <a:latin typeface="Segoe UI"/>
              </a:rPr>
              <a:t>Weather, Budget Awareness &amp; Localization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508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486400" cy="41148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300" b="1">
                <a:solidFill>
                  <a:srgbClr val="2D6A4F"/>
                </a:solidFill>
                <a:latin typeface="Segoe UI"/>
              </a:rPr>
              <a:t>✦  </a:t>
            </a:r>
            <a:r>
              <a:rPr sz="1300" b="1">
                <a:solidFill>
                  <a:srgbClr val="15351F"/>
                </a:solidFill>
                <a:latin typeface="Segoe UI"/>
              </a:rPr>
              <a:t>Live conditions  </a:t>
            </a:r>
            <a:r>
              <a:rPr sz="1300">
                <a:solidFill>
                  <a:srgbClr val="3F5E49"/>
                </a:solidFill>
                <a:latin typeface="Segoe UI"/>
              </a:rPr>
              <a:t>Current temperature, humidity, and rainfall for the land's district, refreshable on demand.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300" b="1">
                <a:solidFill>
                  <a:srgbClr val="2D6A4F"/>
                </a:solidFill>
                <a:latin typeface="Segoe UI"/>
              </a:rPr>
              <a:t>✦  </a:t>
            </a:r>
            <a:r>
              <a:rPr sz="1300" b="1">
                <a:solidFill>
                  <a:srgbClr val="15351F"/>
                </a:solidFill>
                <a:latin typeface="Segoe UI"/>
              </a:rPr>
              <a:t>7-day forecast  </a:t>
            </a:r>
            <a:r>
              <a:rPr sz="1300">
                <a:solidFill>
                  <a:srgbClr val="3F5E49"/>
                </a:solidFill>
                <a:latin typeface="Segoe UI"/>
              </a:rPr>
              <a:t>Daily high/low temperature and precipitation, so timing decisions aren't based on a single snapshot.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300" b="1">
                <a:solidFill>
                  <a:srgbClr val="2D6A4F"/>
                </a:solidFill>
                <a:latin typeface="Segoe UI"/>
              </a:rPr>
              <a:t>✦  </a:t>
            </a:r>
            <a:r>
              <a:rPr sz="1300" b="1">
                <a:solidFill>
                  <a:srgbClr val="15351F"/>
                </a:solidFill>
                <a:latin typeface="Segoe UI"/>
              </a:rPr>
              <a:t>Budget-aware warnings  </a:t>
            </a:r>
            <a:r>
              <a:rPr sz="1300">
                <a:solidFill>
                  <a:srgbClr val="3F5E49"/>
                </a:solidFill>
                <a:latin typeface="Segoe UI"/>
              </a:rPr>
              <a:t>Any crop whose estimated cost exceeds the farmer's stated budget is flagged — on both the list and the detail screen.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300" b="1">
                <a:solidFill>
                  <a:srgbClr val="2D6A4F"/>
                </a:solidFill>
                <a:latin typeface="Segoe UI"/>
              </a:rPr>
              <a:t>✦  </a:t>
            </a:r>
            <a:r>
              <a:rPr sz="1300" b="1">
                <a:solidFill>
                  <a:srgbClr val="15351F"/>
                </a:solidFill>
                <a:latin typeface="Segoe UI"/>
              </a:rPr>
              <a:t>Full Bangla localization  </a:t>
            </a:r>
            <a:r>
              <a:rPr sz="1300">
                <a:solidFill>
                  <a:srgbClr val="3F5E49"/>
                </a:solidFill>
                <a:latin typeface="Segoe UI"/>
              </a:rPr>
              <a:t>Every screen, every label, every chat reply — switchable at any time, persisted across restarts.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90000" y="1254760"/>
            <a:ext cx="2416810" cy="530860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D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0_bangla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280160"/>
            <a:ext cx="2366010" cy="5257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AgroPlus — SE 801 Final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6A4F"/>
                </a:solidFill>
                <a:latin typeface="Segoe UI"/>
              </a:rPr>
              <a:t>FEATURE DEEP-DIVE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3000" b="1" i="0" dirty="0">
                <a:solidFill>
                  <a:srgbClr val="15351F"/>
                </a:solidFill>
                <a:latin typeface="Segoe UI"/>
              </a:rPr>
              <a:t>Agentic Chat Flow</a:t>
            </a:r>
            <a:endParaRPr sz="3000" b="1" i="0" dirty="0">
              <a:solidFill>
                <a:srgbClr val="15351F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508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AgroPlus — SE 801 Final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12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772F6B-C67C-4295-9D6B-3A95502C8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004" y="1681546"/>
            <a:ext cx="2049550" cy="45683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0513C1-03DD-49FF-B9C3-B2455EDDF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323" y="1597876"/>
            <a:ext cx="2049550" cy="46184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E39BD6A-C538-4E4D-AF44-9CD7E5A71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349" y="1577006"/>
            <a:ext cx="2049550" cy="46226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2597651-33C4-4A14-871B-EBB55159A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7903" y="1577006"/>
            <a:ext cx="2036488" cy="456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960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6A4F"/>
                </a:solidFill>
                <a:latin typeface="Segoe U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5351F"/>
                </a:solidFill>
                <a:latin typeface="Segoe UI"/>
              </a:rPr>
              <a:t>Data Model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508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257800" cy="9875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19656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6A4F"/>
                </a:solidFill>
                <a:latin typeface="Segoe UI"/>
              </a:rPr>
              <a:t>Farmer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85416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F5E49"/>
                </a:solidFill>
                <a:latin typeface="Segoe UI"/>
              </a:rPr>
              <a:t>Account, credentials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257800" cy="9875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819656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6A4F"/>
                </a:solidFill>
                <a:latin typeface="Segoe UI"/>
              </a:rPr>
              <a:t>District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85416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F5E49"/>
                </a:solidFill>
                <a:latin typeface="Segoe UI"/>
              </a:rPr>
              <a:t>64 districts, seeded with coordinates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16352"/>
            <a:ext cx="5257800" cy="9875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944368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6A4F"/>
                </a:solidFill>
                <a:latin typeface="Segoe UI"/>
              </a:rPr>
              <a:t>Farm (Land)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10128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F5E49"/>
                </a:solidFill>
                <a:latin typeface="Segoe UI"/>
              </a:rPr>
              <a:t>Profile, budget, cropping pattern, rotation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816352"/>
            <a:ext cx="5257800" cy="9875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944368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6A4F"/>
                </a:solidFill>
                <a:latin typeface="Segoe UI"/>
              </a:rPr>
              <a:t>Recommendation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310128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F5E49"/>
                </a:solidFill>
                <a:latin typeface="Segoe UI"/>
              </a:rPr>
              <a:t>One per completed soil reading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41064"/>
            <a:ext cx="5257800" cy="9875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6A4F"/>
                </a:solidFill>
                <a:latin typeface="Segoe UI"/>
              </a:rPr>
              <a:t>SamplePoint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3484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F5E49"/>
                </a:solidFill>
                <a:latin typeface="Segoe UI"/>
              </a:rPr>
              <a:t>N/P/K/pH per sampling point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941064"/>
            <a:ext cx="5257800" cy="9875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40690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6A4F"/>
                </a:solidFill>
                <a:latin typeface="Segoe UI"/>
              </a:rPr>
              <a:t>RecommendationCrop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434840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F5E49"/>
                </a:solidFill>
                <a:latin typeface="Segoe UI"/>
              </a:rPr>
              <a:t>Ranked crops or a season plan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65776"/>
            <a:ext cx="5257800" cy="9875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193792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6A4F"/>
                </a:solidFill>
                <a:latin typeface="Segoe UI"/>
              </a:rPr>
              <a:t>CropEconomics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559552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F5E49"/>
                </a:solidFill>
                <a:latin typeface="Segoe UI"/>
              </a:rPr>
              <a:t>Government-sourced yield/price/cost reference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5065776"/>
            <a:ext cx="5257800" cy="9875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5193792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6A4F"/>
                </a:solidFill>
                <a:latin typeface="Segoe UI"/>
              </a:rPr>
              <a:t>ChatMessage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559552"/>
            <a:ext cx="4800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F5E49"/>
                </a:solidFill>
                <a:latin typeface="Segoe UI"/>
              </a:rPr>
              <a:t>Persistent per-land conversation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AgroPlus — SE 801 Final 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D6A4F"/>
                </a:solidFill>
                <a:latin typeface="Segoe UI"/>
              </a:rP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5351F"/>
                </a:solidFill>
                <a:latin typeface="Segoe UI"/>
              </a:rPr>
              <a:t>Testing &amp;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508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332720" cy="41148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450" b="1">
                <a:solidFill>
                  <a:srgbClr val="2D6A4F"/>
                </a:solidFill>
                <a:latin typeface="Segoe UI"/>
              </a:rPr>
              <a:t>✦  </a:t>
            </a:r>
            <a:r>
              <a:rPr sz="1450" b="1">
                <a:solidFill>
                  <a:srgbClr val="15351F"/>
                </a:solidFill>
                <a:latin typeface="Segoe UI"/>
              </a:rPr>
              <a:t>Scripted API testing  </a:t>
            </a:r>
            <a:r>
              <a:rPr sz="1450">
                <a:solidFill>
                  <a:srgbClr val="3F5E49"/>
                </a:solidFill>
                <a:latin typeface="Segoe UI"/>
              </a:rPr>
              <a:t>Every endpoint exercised directly with Python HTTP scripts — happy paths, ownership checks, validation errors.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450" b="1">
                <a:solidFill>
                  <a:srgbClr val="2D6A4F"/>
                </a:solidFill>
                <a:latin typeface="Segoe UI"/>
              </a:rPr>
              <a:t>✦  </a:t>
            </a:r>
            <a:r>
              <a:rPr sz="1450" b="1">
                <a:solidFill>
                  <a:srgbClr val="15351F"/>
                </a:solidFill>
                <a:latin typeface="Segoe UI"/>
              </a:rPr>
              <a:t>Real on-device verification  </a:t>
            </a:r>
            <a:r>
              <a:rPr sz="1450">
                <a:solidFill>
                  <a:srgbClr val="3F5E49"/>
                </a:solidFill>
                <a:latin typeface="Segoe UI"/>
              </a:rPr>
              <a:t>Every feature walked through live on an Android emulator, not just asserted from backend responses.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450" b="1">
                <a:solidFill>
                  <a:srgbClr val="2D6A4F"/>
                </a:solidFill>
                <a:latin typeface="Segoe UI"/>
              </a:rPr>
              <a:t>✦  </a:t>
            </a:r>
            <a:r>
              <a:rPr sz="1450" b="1">
                <a:solidFill>
                  <a:srgbClr val="15351F"/>
                </a:solidFill>
                <a:latin typeface="Segoe UI"/>
              </a:rPr>
              <a:t>Invariant checks  </a:t>
            </a:r>
            <a:r>
              <a:rPr sz="1450">
                <a:solidFill>
                  <a:srgbClr val="3F5E49"/>
                </a:solidFill>
                <a:latin typeface="Segoe UI"/>
              </a:rPr>
              <a:t>seed + fertilizer + other = total cost, verified numerically after every pipeline change.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450" b="1">
                <a:solidFill>
                  <a:srgbClr val="2D6A4F"/>
                </a:solidFill>
                <a:latin typeface="Segoe UI"/>
              </a:rPr>
              <a:t>✦  </a:t>
            </a:r>
            <a:r>
              <a:rPr sz="1450" b="1">
                <a:solidFill>
                  <a:srgbClr val="15351F"/>
                </a:solidFill>
                <a:latin typeface="Segoe UI"/>
              </a:rPr>
              <a:t>Rotation-rule testing  </a:t>
            </a:r>
            <a:r>
              <a:rPr sz="1450">
                <a:solidFill>
                  <a:srgbClr val="3F5E49"/>
                </a:solidFill>
                <a:latin typeface="Segoe UI"/>
              </a:rPr>
              <a:t>Verified a 3rd-in-a-row crop is actually excluded, with the right substitution and note.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450" b="1">
                <a:solidFill>
                  <a:srgbClr val="2D6A4F"/>
                </a:solidFill>
                <a:latin typeface="Segoe UI"/>
              </a:rPr>
              <a:t>✦  </a:t>
            </a:r>
            <a:r>
              <a:rPr sz="1450" b="1">
                <a:solidFill>
                  <a:srgbClr val="15351F"/>
                </a:solidFill>
                <a:latin typeface="Segoe UI"/>
              </a:rPr>
              <a:t>Regression discipline  </a:t>
            </a:r>
            <a:r>
              <a:rPr sz="1450">
                <a:solidFill>
                  <a:srgbClr val="3F5E49"/>
                </a:solidFill>
                <a:latin typeface="Segoe UI"/>
              </a:rPr>
              <a:t>Backend restarted and re-verified after every schema or logic change throughout development.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AgroPlus — SE 801 Final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7563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239512" y="1463040"/>
            <a:ext cx="914400" cy="914400"/>
          </a:xfrm>
          <a:prstGeom prst="roundRect">
            <a:avLst>
              <a:gd name="adj" fmla="val 28000"/>
            </a:avLst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/>
              <a:t>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01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445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1">
                <a:solidFill>
                  <a:srgbClr val="BFE8CC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846320"/>
            <a:ext cx="944575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 dirty="0" err="1">
                <a:solidFill>
                  <a:srgbClr val="EEF7F0"/>
                </a:solidFill>
                <a:latin typeface="Segoe UI"/>
              </a:rPr>
              <a:t>AgroPlus</a:t>
            </a:r>
            <a:r>
              <a:rPr sz="1300" b="0" i="0" dirty="0">
                <a:solidFill>
                  <a:srgbClr val="EEF7F0"/>
                </a:solidFill>
                <a:latin typeface="Segoe UI"/>
              </a:rPr>
              <a:t> — Md. T</a:t>
            </a:r>
            <a:r>
              <a:rPr lang="en-GB" sz="1300" b="0" i="0" dirty="0">
                <a:solidFill>
                  <a:srgbClr val="EEF7F0"/>
                </a:solidFill>
                <a:latin typeface="Segoe UI"/>
              </a:rPr>
              <a:t>o</a:t>
            </a:r>
            <a:r>
              <a:rPr sz="1300" b="0" i="0" dirty="0" err="1">
                <a:solidFill>
                  <a:srgbClr val="EEF7F0"/>
                </a:solidFill>
                <a:latin typeface="Segoe UI"/>
              </a:rPr>
              <a:t>uhidur</a:t>
            </a:r>
            <a:r>
              <a:rPr sz="1300" b="0" i="0" dirty="0">
                <a:solidFill>
                  <a:srgbClr val="EEF7F0"/>
                </a:solidFill>
                <a:latin typeface="Segoe UI"/>
              </a:rPr>
              <a:t> Rahman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193792"/>
            <a:ext cx="9445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A9D6B6"/>
                </a:solidFill>
                <a:latin typeface="Segoe UI"/>
              </a:rPr>
              <a:t>SE 801 · Software Project Lab–III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1377</Words>
  <Application>Microsoft Office PowerPoint</Application>
  <PresentationFormat>Widescreen</PresentationFormat>
  <Paragraphs>191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Md. Touhidur Rahman</cp:lastModifiedBy>
  <cp:revision>2</cp:revision>
  <dcterms:created xsi:type="dcterms:W3CDTF">2013-01-27T09:14:16Z</dcterms:created>
  <dcterms:modified xsi:type="dcterms:W3CDTF">2026-10-11T08:25:04Z</dcterms:modified>
  <cp:category/>
</cp:coreProperties>
</file>